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Drop top-1 (illustratif)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D6A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film_n_total_noms</c:v>
                  </c:pt>
                  <c:pt idx="1">
                    <c:v>TF-IDF SVD comp.1</c:v>
                  </c:pt>
                  <c:pt idx="2">
                    <c:v>TF-IDF SVD comp.2</c:v>
                  </c:pt>
                  <c:pt idx="3">
                    <c:v>n_other_noms</c:v>
                  </c:pt>
                  <c:pt idx="4">
                    <c:v>is_late_release</c:v>
                  </c:pt>
                  <c:pt idx="5">
                    <c:v>log_budget_rel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0.18</c:v>
                </c:pt>
                <c:pt idx="1">
                  <c:v>0.14</c:v>
                </c:pt>
                <c:pt idx="2">
                  <c:v>0.11</c:v>
                </c:pt>
                <c:pt idx="3">
                  <c:v>0.09</c:v>
                </c:pt>
                <c:pt idx="4">
                  <c:v>0.06</c:v>
                </c:pt>
                <c:pt idx="5">
                  <c:v>0.04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2D6A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Drop top-1 (illustratif)</c:v>
                </c:pt>
              </c:strCache>
            </c:strRef>
          </c:tx>
          <c:spPr>
            <a:solidFill>
              <a:srgbClr val="C112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C112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n_prior_noms</c:v>
                  </c:pt>
                  <c:pt idx="1">
                    <c:v>TF-IDF SVD comp.1</c:v>
                  </c:pt>
                  <c:pt idx="2">
                    <c:v>imdb_rating_rel</c:v>
                  </c:pt>
                  <c:pt idx="3">
                    <c:v>film_n_noms</c:v>
                  </c:pt>
                  <c:pt idx="4">
                    <c:v>log_budget</c:v>
                  </c:pt>
                  <c:pt idx="5">
                    <c:v>is_biopic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0.08</c:v>
                </c:pt>
                <c:pt idx="1">
                  <c:v>0.01</c:v>
                </c:pt>
                <c:pt idx="2">
                  <c:v>0.005</c:v>
                </c:pt>
                <c:pt idx="3">
                  <c:v>0.004</c:v>
                </c:pt>
                <c:pt idx="4">
                  <c:v>0.002</c:v>
                </c:pt>
                <c:pt idx="5">
                  <c:v>0.001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C112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LightGBM (Scénario)</c:v>
                </c:pt>
              </c:strCache>
            </c:strRef>
          </c:tx>
          <c:spPr>
            <a:solidFill>
              <a:srgbClr val="2D6A4F"/>
            </a:solidFill>
            <a:ln w="38100" cap="flat">
              <a:solidFill>
                <a:srgbClr val="2D6A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10 %</c:v>
                  </c:pt>
                  <c:pt idx="1">
                    <c:v>30 %</c:v>
                  </c:pt>
                  <c:pt idx="2">
                    <c:v>50 %</c:v>
                  </c:pt>
                  <c:pt idx="3">
                    <c:v>70 %</c:v>
                  </c:pt>
                  <c:pt idx="4">
                    <c:v>90 %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0.09</c:v>
                </c:pt>
                <c:pt idx="1">
                  <c:v>0.27</c:v>
                </c:pt>
                <c:pt idx="2">
                  <c:v>0.51</c:v>
                </c:pt>
                <c:pt idx="3">
                  <c:v>0.72</c:v>
                </c:pt>
                <c:pt idx="4">
                  <c:v>0.91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Calibration parfaite</c:v>
                </c:pt>
              </c:strCache>
            </c:strRef>
          </c:tx>
          <c:spPr>
            <a:solidFill>
              <a:srgbClr val="BBBBBB"/>
            </a:solidFill>
            <a:ln w="38100" cap="flat">
              <a:solidFill>
                <a:srgbClr val="BBBBB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BBBBB"/>
              </a:solidFill>
              <a:ln w="9525" cap="flat">
                <a:solidFill>
                  <a:srgbClr val="BBBBB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10 %</c:v>
                  </c:pt>
                  <c:pt idx="1">
                    <c:v>30 %</c:v>
                  </c:pt>
                  <c:pt idx="2">
                    <c:v>50 %</c:v>
                  </c:pt>
                  <c:pt idx="3">
                    <c:v>70 %</c:v>
                  </c:pt>
                  <c:pt idx="4">
                    <c:v>90 %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</c:v>
                </c:pt>
                <c:pt idx="1">
                  <c:v>0.3</c:v>
                </c:pt>
                <c:pt idx="2">
                  <c:v>0.5</c:v>
                </c:pt>
                <c:pt idx="3">
                  <c:v>0.7</c:v>
                </c:pt>
                <c:pt idx="4">
                  <c:v>0.9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LES OSCARS PAR LE ML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 27 ans de données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"Sur qui parier 6 mois avant les nominations ?"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 ·  Keira  ·  Robin  ·  Jonathan   —   Applied ML for Business  2025–2026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223760" y="640080"/>
            <a:ext cx="1645920" cy="1645920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0" y="8229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🏆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marché ~150 M$ : studios, luxe, magazines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de clients, 1 même besoin : savoir avant les nominations officielles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1828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🎬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Studios Hollywood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04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 M$/an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 FYC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 Your Consideration)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planifiées 6 mois avant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651760" cy="182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17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💎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9184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Maisons de Luxe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404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1–5 M$/actrice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37560" y="2788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Dior, Cartier,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Chanel pour les cérémonies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(habillage, bijoux)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188720"/>
            <a:ext cx="2651760" cy="182880"/>
          </a:xfrm>
          <a:prstGeom prst="rect">
            <a:avLst/>
          </a:prstGeom>
          <a:solidFill>
            <a:srgbClr val="2B4162"/>
          </a:solidFill>
          <a:ln w="12700">
            <a:solidFill>
              <a:srgbClr val="2B41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417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📰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2648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Magazines Premium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2404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41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Couvertures ×5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172200" y="2788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Vogue, Vanity Fair planifiés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mois à l'avance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(photos, interviews)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709160"/>
            <a:ext cx="8412480" cy="283464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709160"/>
            <a:ext cx="8412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total estimé : ~150 M$  ·  La prédiction ML = avantage compétitif décisif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Cadrage du problème ML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2976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binaire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5179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catégorie Oscar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73936"/>
            <a:ext cx="3840480" cy="0"/>
          </a:xfrm>
          <a:prstGeom prst="line">
            <a:avLst/>
          </a:prstGeom>
          <a:noFill/>
          <a:ln w="6350">
            <a:solidFill>
              <a:srgbClr val="E0D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0848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nominated ∈ {0, 1}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40864"/>
            <a:ext cx="3840480" cy="0"/>
          </a:xfrm>
          <a:prstGeom prst="line">
            <a:avLst/>
          </a:prstGeom>
          <a:noFill/>
          <a:ln w="6350">
            <a:solidFill>
              <a:srgbClr val="E0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957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modèles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2651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indépendants (1 par catégorie)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07792"/>
            <a:ext cx="3840480" cy="0"/>
          </a:xfrm>
          <a:prstGeom prst="line">
            <a:avLst/>
          </a:prstGeom>
          <a:noFill/>
          <a:ln w="6350">
            <a:solidFill>
              <a:srgbClr val="E0DD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626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ans de données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32186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2000–2026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3840480" cy="0"/>
          </a:xfrm>
          <a:prstGeom prst="line">
            <a:avLst/>
          </a:prstGeom>
          <a:noFill/>
          <a:ln w="6350">
            <a:solidFill>
              <a:srgbClr val="E0D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29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bonus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3785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argmax(P) prédit le gagnant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0640" y="804672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0640" y="9144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2 427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120640" y="1737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(2000–2026)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804672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23760" y="9144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7223760" y="1737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modélisées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2542032"/>
            <a:ext cx="1965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52160" y="26517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5852160" y="3474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nomination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20640" y="4279392"/>
            <a:ext cx="3657600" cy="594360"/>
          </a:xfrm>
          <a:prstGeom prst="rect">
            <a:avLst/>
          </a:prstGeom>
          <a:solidFill>
            <a:srgbClr val="FFF8E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43159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Winner = argmax des probas par année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prédit la nomination ; le gagnant = nominé le mieux classé.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sources  ·  1 dataset unifié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3347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2633472" cy="20116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Wikipedia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2 194 lignes scrappées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catégories historiques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Nominations 1929–2026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429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: winner + nominees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2514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63347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60120"/>
            <a:ext cx="2633472" cy="2011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18872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182880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IMDb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91840" y="217627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non-commerciaux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2468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Go de données brutes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fichiers TSV filtrés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: movie + year≥2000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429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cast, crew, genres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33872" y="2514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035040" y="960120"/>
            <a:ext cx="263347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960120"/>
            <a:ext cx="2633472" cy="201168"/>
          </a:xfrm>
          <a:prstGeom prst="rect">
            <a:avLst/>
          </a:prstGeom>
          <a:solidFill>
            <a:srgbClr val="C97D3E"/>
          </a:solidFill>
          <a:ln w="12700">
            <a:solidFill>
              <a:srgbClr val="C97D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18872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26480" y="182880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TMDb API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26480" y="217627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par appel API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72200" y="2468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~1 097 films enrichis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72200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~2 200 req. (cachées parquet)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72200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Keywords, budget, pays, langue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72200" y="3429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: ~50 req/s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572000"/>
            <a:ext cx="8412480" cy="420624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5902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  :  2 427 nominations  ·  30 features  ·  27 ans (2000–2026)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5760" y="487375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oscar_imdb_merged.parquet  (Data/Processed/)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propre  ·  5 features narratives clés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069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3794760" cy="301752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1252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55648" y="1261872"/>
            <a:ext cx="1252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NA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008376" y="1261872"/>
            <a:ext cx="1252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563624"/>
            <a:ext cx="3794760" cy="347472"/>
          </a:xfrm>
          <a:prstGeom prst="rect">
            <a:avLst/>
          </a:prstGeom>
          <a:solidFill>
            <a:srgbClr val="F8F6F2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63624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55648" y="1563624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08376" y="1563624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Parfait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947672"/>
            <a:ext cx="3794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47672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imdb_rating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55648" y="1947672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08376" y="1947672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fillna médiane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331720"/>
            <a:ext cx="3794760" cy="347472"/>
          </a:xfrm>
          <a:prstGeom prst="rect">
            <a:avLst/>
          </a:prstGeom>
          <a:solidFill>
            <a:srgbClr val="F8F6F2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31720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tmdb_vote_avg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55648" y="2331720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08376" y="2331720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fillna médiane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2715768"/>
            <a:ext cx="3794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15768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/ revenue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55648" y="2715768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08376" y="2715768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0 = inconnu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099816"/>
            <a:ext cx="3794760" cy="347472"/>
          </a:xfrm>
          <a:prstGeom prst="rect">
            <a:avLst/>
          </a:prstGeom>
          <a:solidFill>
            <a:srgbClr val="F8F6F2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09981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55648" y="309981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08376" y="3099816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fillna ""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483864"/>
            <a:ext cx="3794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483864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n_cast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55648" y="3483864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08376" y="3483864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fillna médiane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3867912"/>
            <a:ext cx="3794760" cy="347472"/>
          </a:xfrm>
          <a:prstGeom prst="rect">
            <a:avLst/>
          </a:prstGeom>
          <a:solidFill>
            <a:srgbClr val="F8F6F2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867912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nconst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755648" y="3867912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72.9 %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08376" y="3867912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catég. film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80467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89611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👑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230368" y="8778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Streep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30368" y="115214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n_prior_noms &amp; n_prior_wins — palmarès cumulé (anti-leakage : cumcount + shift)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17720" y="1609344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170078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230368" y="16824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Bias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30368" y="19568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is_late_release — films nov-déc surreprésentés (Oscar season effect)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17720" y="2414016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81728" y="250545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230368" y="24871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Bait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30368" y="27614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genre_biography + genre_drama + is_biopic — combo jury historique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17720" y="321868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81728" y="331012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5230368" y="3291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Anti-anglo bias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30368" y="3566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original_language ≠ "en" — signal fort pour catégories internationales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17720" y="402336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81728" y="411480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5230368" y="40965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budget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230368" y="43708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log_budget ~20–80 M$ — ni blockbuster ni micro-budget → crédibilité jury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set négatif ⚠️ — le choix technique qui sauve le modèle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Problème : notre dataset = nominés uniquement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classifieur binaire a besoin de négatifs (films non nominés). On a construit un pool d'éligibles à partir des données IMDb.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2000–2025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31720" y="19019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A84C"/>
                </a:solidFill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0" y="1828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0" y="2212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5 000 votes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0" y="19019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A84C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828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00600" y="2212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~3 000 films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46520" y="19019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A84C"/>
                </a:solidFill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0" y="2212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~2–5 %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852928"/>
            <a:ext cx="4206240" cy="201168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Stratégie retenue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sur tous les modèles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SMOTE (n trop petit par catégorie)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Équilibre géré par les poids de classes sklearn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852928"/>
            <a:ext cx="4069080" cy="2011680"/>
          </a:xfrm>
          <a:prstGeom prst="rect">
            <a:avLst/>
          </a:prstGeom>
          <a:solidFill>
            <a:srgbClr val="FFF8E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Déséquilibre de classe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29184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nominés pour ~295 non-nominés dans un groupe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utilise PR-AUC comme métrique principale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(plus robuste que l'accuracy sur classes déséquilibrées)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top-1 accuracy par année comme métrique métier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ces 7 catégories 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04672"/>
            <a:ext cx="265176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8046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7 catégories modélisées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" y="1115568"/>
            <a:ext cx="2432304" cy="329184"/>
          </a:xfrm>
          <a:prstGeom prst="rect">
            <a:avLst/>
          </a:prstGeom>
          <a:solidFill>
            <a:srgbClr val="D8F3DC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1556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Picture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" y="1499616"/>
            <a:ext cx="2432304" cy="329184"/>
          </a:xfrm>
          <a:prstGeom prst="rect">
            <a:avLst/>
          </a:prstGeom>
          <a:solidFill>
            <a:srgbClr val="D8F3DC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99616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Director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1883664"/>
            <a:ext cx="2432304" cy="329184"/>
          </a:xfrm>
          <a:prstGeom prst="rect">
            <a:avLst/>
          </a:prstGeom>
          <a:solidFill>
            <a:srgbClr val="D8F3DC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83664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267712"/>
            <a:ext cx="2432304" cy="329184"/>
          </a:xfrm>
          <a:prstGeom prst="rect">
            <a:avLst/>
          </a:prstGeom>
          <a:solidFill>
            <a:srgbClr val="D8F3DC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267712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Actress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2651760"/>
            <a:ext cx="2432304" cy="329184"/>
          </a:xfrm>
          <a:prstGeom prst="rect">
            <a:avLst/>
          </a:prstGeom>
          <a:solidFill>
            <a:srgbClr val="D8F3DC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65176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Actor SR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" y="3035808"/>
            <a:ext cx="2432304" cy="329184"/>
          </a:xfrm>
          <a:prstGeom prst="rect">
            <a:avLst/>
          </a:prstGeom>
          <a:solidFill>
            <a:srgbClr val="D8F3DC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03580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Actress SR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" y="3419856"/>
            <a:ext cx="2432304" cy="329184"/>
          </a:xfrm>
          <a:prstGeom prst="rect">
            <a:avLst/>
          </a:prstGeom>
          <a:solidFill>
            <a:srgbClr val="D8F3DC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419856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Original Screenplay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3941064"/>
            <a:ext cx="243230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5 + 2 Supporting → couverture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totale. Données disponibles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coût marginal supplémentaire.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804672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804672"/>
            <a:ext cx="2651760" cy="25603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8046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1 catégorie exclue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0128" y="1115568"/>
            <a:ext cx="2432304" cy="329184"/>
          </a:xfrm>
          <a:prstGeom prst="rect">
            <a:avLst/>
          </a:prstGeom>
          <a:solidFill>
            <a:srgbClr val="FFD6D6"/>
          </a:solidFill>
          <a:ln w="6350">
            <a:solidFill>
              <a:srgbClr val="C112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111556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Visual Effects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10128" y="1636776"/>
            <a:ext cx="2432304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spec technique (équipes,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truqués) dans IMDb/TMDb.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valeur pour le marché luxe.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804672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804672"/>
            <a:ext cx="2651760" cy="256032"/>
          </a:xfrm>
          <a:prstGeom prst="rect">
            <a:avLst/>
          </a:prstGeom>
          <a:solidFill>
            <a:srgbClr val="C97D3E"/>
          </a:solidFill>
          <a:ln w="12700">
            <a:solidFill>
              <a:srgbClr val="C97D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8046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1 catégorie bonus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44768" y="1115568"/>
            <a:ext cx="2432304" cy="329184"/>
          </a:xfrm>
          <a:prstGeom prst="rect">
            <a:avLst/>
          </a:prstGeom>
          <a:solidFill>
            <a:srgbClr val="FFE8CC"/>
          </a:solidFill>
          <a:ln w="6350">
            <a:solidFill>
              <a:srgbClr val="C97D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111556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Animated Feature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44768" y="1636776"/>
            <a:ext cx="2432304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de robustesse cross-genre.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d'école : monopole Pixar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baseline imbattable (91%).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modèles candidats  ·  1 champion par catégorie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6035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04672"/>
            <a:ext cx="10972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961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5568" y="8778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L2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188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 régularisé · biais élevé, variance faible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26280" y="850392"/>
            <a:ext cx="1234440" cy="201168"/>
          </a:xfrm>
          <a:prstGeom prst="rect">
            <a:avLst/>
          </a:prstGeom>
          <a:solidFill>
            <a:srgbClr val="F7F5F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850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02-05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26280" y="1097280"/>
            <a:ext cx="1828800" cy="347472"/>
          </a:xfrm>
          <a:prstGeom prst="rect">
            <a:avLst/>
          </a:prstGeom>
          <a:solidFill>
            <a:srgbClr val="FFF8E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97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Best Picture, Best Actress SR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609344"/>
            <a:ext cx="6035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609344"/>
            <a:ext cx="10972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7007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🌲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15568" y="16824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1993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· ensemble d'arbres indépendants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1655064"/>
            <a:ext cx="1234440" cy="201168"/>
          </a:xfrm>
          <a:prstGeom prst="rect">
            <a:avLst/>
          </a:prstGeom>
          <a:solidFill>
            <a:srgbClr val="F7F5F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16550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26280" y="1901952"/>
            <a:ext cx="1828800" cy="347472"/>
          </a:xfrm>
          <a:prstGeom prst="rect">
            <a:avLst/>
          </a:prstGeom>
          <a:solidFill>
            <a:srgbClr val="FFF8E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9019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Best Actor, Best Director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414016"/>
            <a:ext cx="6035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414016"/>
            <a:ext cx="10972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5054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15568" y="24871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15568" y="2798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level-wise · gradient sur résidus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2459736"/>
            <a:ext cx="1234440" cy="201168"/>
          </a:xfrm>
          <a:prstGeom prst="rect">
            <a:avLst/>
          </a:prstGeom>
          <a:solidFill>
            <a:srgbClr val="F7F5F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245973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04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26280" y="2706624"/>
            <a:ext cx="1828800" cy="347472"/>
          </a:xfrm>
          <a:prstGeom prst="rect">
            <a:avLst/>
          </a:prstGeom>
          <a:solidFill>
            <a:srgbClr val="FFF8E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27066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Best Actress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218688"/>
            <a:ext cx="6035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218688"/>
            <a:ext cx="10972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3101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115568" y="3291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15568" y="36027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leaf-wise · plus rapide sur sparse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26280" y="3264408"/>
            <a:ext cx="1234440" cy="201168"/>
          </a:xfrm>
          <a:prstGeom prst="rect">
            <a:avLst/>
          </a:prstGeom>
          <a:solidFill>
            <a:srgbClr val="F7F5F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6280" y="32644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04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26280" y="3511296"/>
            <a:ext cx="1828800" cy="347472"/>
          </a:xfrm>
          <a:prstGeom prst="rect">
            <a:avLst/>
          </a:prstGeom>
          <a:solidFill>
            <a:srgbClr val="FFF8E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35112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Best Original Screenplay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4023360"/>
            <a:ext cx="6035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023360"/>
            <a:ext cx="109728" cy="731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4114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115568" y="4096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115568" y="4407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 · profondeur max = 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26280" y="4069080"/>
            <a:ext cx="1234440" cy="201168"/>
          </a:xfrm>
          <a:prstGeom prst="rect">
            <a:avLst/>
          </a:prstGeom>
          <a:solidFill>
            <a:srgbClr val="F7F5F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26280" y="40690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05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26280" y="4315968"/>
            <a:ext cx="1828800" cy="347472"/>
          </a:xfrm>
          <a:prstGeom prst="rect">
            <a:avLst/>
          </a:prstGeom>
          <a:solidFill>
            <a:srgbClr val="FFF8E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43159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Best Actress SR, VFX bonus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656832" y="804672"/>
            <a:ext cx="2121408" cy="4023360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748272" y="960120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Diversity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Principle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858000" y="1600200"/>
            <a:ext cx="1719072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48272" y="1691640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champion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universel — chaque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 a sa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statistique.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48272" y="3246120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04 §1–4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vs Boosting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Linear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Évaluation sans leakage  —  GroupKFold(year)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326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Anti-leakage temporel strict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GroupKFold(n_splits=5, groups=year)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934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Une cérémonie entière reste dans un seul fold.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 de split aléatoire : l'avenir ne contamine pas le train.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temporel des 5 folds 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4754880" cy="256032"/>
          </a:xfrm>
          <a:prstGeom prst="rect">
            <a:avLst/>
          </a:prstGeom>
          <a:solidFill>
            <a:srgbClr val="D0CCC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60320"/>
            <a:ext cx="950976" cy="25603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60320"/>
            <a:ext cx="4754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2000–05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4754880" cy="256032"/>
          </a:xfrm>
          <a:prstGeom prst="rect">
            <a:avLst/>
          </a:prstGeom>
          <a:solidFill>
            <a:srgbClr val="D0CCC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99616" y="2862072"/>
            <a:ext cx="950976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62072"/>
            <a:ext cx="4754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2006–11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4754880" cy="256032"/>
          </a:xfrm>
          <a:prstGeom prst="rect">
            <a:avLst/>
          </a:prstGeom>
          <a:solidFill>
            <a:srgbClr val="D0CCC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50592" y="3163824"/>
            <a:ext cx="950976" cy="256032"/>
          </a:xfrm>
          <a:prstGeom prst="rect">
            <a:avLst/>
          </a:prstGeom>
          <a:solidFill>
            <a:srgbClr val="C97D3E"/>
          </a:solidFill>
          <a:ln w="12700">
            <a:solidFill>
              <a:srgbClr val="C97D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63824"/>
            <a:ext cx="4754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2012–16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3465576"/>
            <a:ext cx="4754880" cy="256032"/>
          </a:xfrm>
          <a:prstGeom prst="rect">
            <a:avLst/>
          </a:prstGeom>
          <a:solidFill>
            <a:srgbClr val="D0CCC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01568" y="3465576"/>
            <a:ext cx="950976" cy="25603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65576"/>
            <a:ext cx="4754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2017–21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3767328"/>
            <a:ext cx="4754880" cy="256032"/>
          </a:xfrm>
          <a:prstGeom prst="rect">
            <a:avLst/>
          </a:prstGeom>
          <a:solidFill>
            <a:srgbClr val="D0CCCC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52544" y="3767328"/>
            <a:ext cx="950976" cy="2560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67328"/>
            <a:ext cx="4754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2022–26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40965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Train (gris)   ■ Test (couleur) — Session 02 §7.2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23560" y="804672"/>
            <a:ext cx="3154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804672"/>
            <a:ext cx="91440" cy="1143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8961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06440" y="120700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métier : argmax(P) = winner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cérémonie. Moyenne ± std/5 folds.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06440" y="896112"/>
            <a:ext cx="1188720" cy="201168"/>
          </a:xfrm>
          <a:prstGeom prst="rect">
            <a:avLst/>
          </a:prstGeom>
          <a:solidFill>
            <a:srgbClr val="F7F5F0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8961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01 §5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623560" y="2066544"/>
            <a:ext cx="3154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23560" y="2066544"/>
            <a:ext cx="91440" cy="11430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215798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06440" y="246888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sur le déséquilibre.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robuste que ROC-AUC pour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classes rares (~5 % positifs).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06440" y="2157984"/>
            <a:ext cx="1188720" cy="201168"/>
          </a:xfrm>
          <a:prstGeom prst="rect">
            <a:avLst/>
          </a:prstGeom>
          <a:solidFill>
            <a:srgbClr val="F7F5F0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2157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01 §5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623560" y="3328416"/>
            <a:ext cx="3154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7D3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23560" y="3328416"/>
            <a:ext cx="91440" cy="1143000"/>
          </a:xfrm>
          <a:prstGeom prst="rect">
            <a:avLst/>
          </a:prstGeom>
          <a:solidFill>
            <a:srgbClr val="C97D3E"/>
          </a:solidFill>
          <a:ln w="12700">
            <a:solidFill>
              <a:srgbClr val="C97D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06440" y="34198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Log-Loss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806440" y="373075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des probabilités.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Pénalise les prédictions mal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calibrées (proxy RGPD).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806440" y="3419856"/>
            <a:ext cx="1188720" cy="201168"/>
          </a:xfrm>
          <a:prstGeom prst="rect">
            <a:avLst/>
          </a:prstGeom>
          <a:solidFill>
            <a:srgbClr val="F7F5F0"/>
          </a:solidFill>
          <a:ln w="12700">
            <a:solidFill>
              <a:srgbClr val="C97D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06440" y="34198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01 §5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catégories  ·  Qui gagne, qui perd 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réelles — GroupKFold(5) · top-1 accuracy ± std · lift vs meilleure baseline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301752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94560" y="987552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29000" y="98755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69080" y="987552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std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90872" y="987552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76672" y="987552"/>
            <a:ext cx="713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89904" y="987552"/>
            <a:ext cx="5852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289304"/>
            <a:ext cx="8412480" cy="420624"/>
          </a:xfrm>
          <a:prstGeom prst="rect">
            <a:avLst/>
          </a:prstGeom>
          <a:solidFill>
            <a:srgbClr val="FAFAF8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28930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Original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31136" y="1289304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65576" y="128930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68.0 %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05656" y="128930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±14.7 %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27448" y="1289304"/>
            <a:ext cx="612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42.0 %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13248" y="128930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+26.0 pts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9904" y="1289304"/>
            <a:ext cx="585216" cy="420624"/>
          </a:xfrm>
          <a:prstGeom prst="rect">
            <a:avLst/>
          </a:prstGeom>
          <a:solidFill>
            <a:srgbClr val="D8F3DC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12893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1709928"/>
            <a:ext cx="8412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1709928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Film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31136" y="1709928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L2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65576" y="170992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45.3 %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05656" y="170992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±16.1 %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27448" y="1709928"/>
            <a:ext cx="612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28.7 %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13248" y="17099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+16.7 pts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9904" y="1709928"/>
            <a:ext cx="585216" cy="420624"/>
          </a:xfrm>
          <a:prstGeom prst="rect">
            <a:avLst/>
          </a:prstGeom>
          <a:solidFill>
            <a:srgbClr val="D8F3DC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9904" y="170992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2130552"/>
            <a:ext cx="8412480" cy="420624"/>
          </a:xfrm>
          <a:prstGeom prst="rect">
            <a:avLst/>
          </a:prstGeom>
          <a:solidFill>
            <a:srgbClr val="FAFAF8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213055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Actrice Second Rôle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231136" y="2130552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65576" y="213055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50.0 %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05656" y="2130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±20.0 %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27448" y="2130552"/>
            <a:ext cx="612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34.0 %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13248" y="213055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+16.0 pts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9904" y="2130552"/>
            <a:ext cx="585216" cy="420624"/>
          </a:xfrm>
          <a:prstGeom prst="rect">
            <a:avLst/>
          </a:prstGeom>
          <a:solidFill>
            <a:srgbClr val="D8F3DC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9904" y="213055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2551176"/>
            <a:ext cx="8412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2551176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Actrice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231136" y="2551176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465576" y="255117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49.3 %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05656" y="255117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±13.1 %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27448" y="2551176"/>
            <a:ext cx="612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40.7 %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13248" y="255117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+8.7 pts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89904" y="2551176"/>
            <a:ext cx="585216" cy="420624"/>
          </a:xfrm>
          <a:prstGeom prst="rect">
            <a:avLst/>
          </a:prstGeom>
          <a:solidFill>
            <a:srgbClr val="FFE8CC"/>
          </a:solidFill>
          <a:ln w="6350">
            <a:solidFill>
              <a:srgbClr val="C97D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9904" y="25511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65760" y="2971800"/>
            <a:ext cx="8412480" cy="420624"/>
          </a:xfrm>
          <a:prstGeom prst="rect">
            <a:avLst/>
          </a:prstGeom>
          <a:solidFill>
            <a:srgbClr val="FAFAF8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" y="2971800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Acteur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231136" y="2971800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465576" y="297180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36.0 %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05656" y="297180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±24.8 %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27448" y="2971800"/>
            <a:ext cx="612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30.0 %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13248" y="297180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+6.0 pts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089904" y="2971800"/>
            <a:ext cx="585216" cy="420624"/>
          </a:xfrm>
          <a:prstGeom prst="rect">
            <a:avLst/>
          </a:prstGeom>
          <a:solidFill>
            <a:srgbClr val="FFE8CC"/>
          </a:solidFill>
          <a:ln w="6350">
            <a:solidFill>
              <a:srgbClr val="C97D3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89904" y="29718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65760" y="3392424"/>
            <a:ext cx="8412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2336" y="3392424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Réalisateur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2231136" y="3392424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465576" y="339242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54.0 %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105656" y="339242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±20.8 %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727448" y="3392424"/>
            <a:ext cx="612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50.0 %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413248" y="339242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+4.0 pts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089904" y="3392424"/>
            <a:ext cx="585216" cy="420624"/>
          </a:xfrm>
          <a:prstGeom prst="rect">
            <a:avLst/>
          </a:prstGeom>
          <a:solidFill>
            <a:srgbClr val="FFE8CC"/>
          </a:solidFill>
          <a:ln w="6350">
            <a:solidFill>
              <a:srgbClr val="C97D3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89904" y="339242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365760" y="3813048"/>
            <a:ext cx="8412480" cy="420624"/>
          </a:xfrm>
          <a:prstGeom prst="rect">
            <a:avLst/>
          </a:prstGeom>
          <a:solidFill>
            <a:srgbClr val="FAFAF8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2336" y="3813048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Visuels ★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2231136" y="3813048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465576" y="381304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74.0 %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105656" y="381304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±20.0 %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727448" y="3813048"/>
            <a:ext cx="612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74.0 %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413248" y="381304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 pts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089904" y="3813048"/>
            <a:ext cx="585216" cy="420624"/>
          </a:xfrm>
          <a:prstGeom prst="rect">
            <a:avLst/>
          </a:prstGeom>
          <a:solidFill>
            <a:srgbClr val="FFD6D6"/>
          </a:solidFill>
          <a:ln w="6350">
            <a:solidFill>
              <a:srgbClr val="C1121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89904" y="38130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365760" y="4233672"/>
            <a:ext cx="8412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02336" y="4233672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Animé ★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2231136" y="4233672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3465576" y="423367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80.0 %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4105656" y="423367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±25.3 %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27448" y="4233672"/>
            <a:ext cx="612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91.0 %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413248" y="423367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−11.0 pts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089904" y="4233672"/>
            <a:ext cx="585216" cy="420624"/>
          </a:xfrm>
          <a:prstGeom prst="rect">
            <a:avLst/>
          </a:prstGeom>
          <a:solidFill>
            <a:srgbClr val="FFD6D6"/>
          </a:solidFill>
          <a:ln w="6350">
            <a:solidFill>
              <a:srgbClr val="C1121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89904" y="423367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365760" y="4654296"/>
            <a:ext cx="8412480" cy="420624"/>
          </a:xfrm>
          <a:prstGeom prst="rect">
            <a:avLst/>
          </a:prstGeom>
          <a:solidFill>
            <a:srgbClr val="FAFAF8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02336" y="4654296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 Second Rôle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2231136" y="4654296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65576" y="465429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41.0 %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105656" y="465429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±21.1 %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4727448" y="4654296"/>
            <a:ext cx="612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57.0 %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5413248" y="465429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−16.0 pts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089904" y="4654296"/>
            <a:ext cx="585216" cy="420624"/>
          </a:xfrm>
          <a:prstGeom prst="rect">
            <a:avLst/>
          </a:prstGeom>
          <a:solidFill>
            <a:srgbClr val="FFD6D6"/>
          </a:solidFill>
          <a:ln w="6350">
            <a:solidFill>
              <a:srgbClr val="C1121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089904" y="465429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365760" y="5074920"/>
            <a:ext cx="8412480" cy="219456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65760" y="50749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catégories ML gagne 🟢  ·  3 catégories ML marginal 🟠  ·  3 catégories baseline gagne 🔴  ★ = catégories bonus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le ML gagne ? — Les catégories 🟢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(Session 05 §5)  ·  Variance fold-à-fold (Session 02 §5)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— LightGBM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(Scénario Original) — à remplacer Bloc B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572768"/>
          <a:ext cx="40690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245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Valeurs illustratives — à remplacer avec les sorties du Bloc B du notebook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663440" y="1024128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Variance fold-à-fold — faible sur les 🟢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00600" y="1435608"/>
            <a:ext cx="3840480" cy="329184"/>
          </a:xfrm>
          <a:prstGeom prst="rect">
            <a:avLst/>
          </a:prstGeom>
          <a:solidFill>
            <a:srgbClr val="D8F3DC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435608"/>
            <a:ext cx="19202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Original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766560" y="1435608"/>
            <a:ext cx="19202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68.0 % ±14.7 %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00600" y="1819656"/>
            <a:ext cx="3840480" cy="329184"/>
          </a:xfrm>
          <a:prstGeom prst="rect">
            <a:avLst/>
          </a:prstGeom>
          <a:solidFill>
            <a:srgbClr val="D8F3DC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819656"/>
            <a:ext cx="19202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Film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766560" y="1819656"/>
            <a:ext cx="19202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45.3 % ±16.1 %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00600" y="2203704"/>
            <a:ext cx="3840480" cy="329184"/>
          </a:xfrm>
          <a:prstGeom prst="rect">
            <a:avLst/>
          </a:prstGeom>
          <a:solidFill>
            <a:srgbClr val="D8F3DC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2203704"/>
            <a:ext cx="19202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Actrice SR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766560" y="2203704"/>
            <a:ext cx="19202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50.0 % ±20.0 %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2852928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63440" y="2852928"/>
            <a:ext cx="82296" cy="60350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29077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+26 pts — LightGBM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00600" y="312724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sur résidus capte les interactions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× film_n_total_noms. Plusieurs features portent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signal (permutation importance &gt; 0).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663440" y="3520440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63440" y="3520440"/>
            <a:ext cx="82296" cy="60350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00600" y="357530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+17 pts — LR L2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00600" y="37947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linéaire régularisé = biais élevé, variance faible.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Exactement adapté à n=201. n_other_noms domine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coefficients standardisés.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663440" y="4187952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4187952"/>
            <a:ext cx="82296" cy="60350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0600" y="424281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Actrice SR +16 pts — Decision Tree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800600" y="44622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peu profond = règle if/then lisible.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Racine : is_first_nomination → règle métier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explicite et directement interprétable.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la baseline gagne ? — Les catégories 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protocole Permutation Importance  ·  même lecture Bias-Variance (Session 02 §5)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— Random Forest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(Acteur Second Rôle) — à remplacer Bloc B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572768"/>
          <a:ext cx="40690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245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Valeurs illustratives — à remplacer avec les sorties du Bloc B du notebook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663440" y="1024128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Variance fold-à-fold — élevée sur les 🔴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00600" y="1435608"/>
            <a:ext cx="3840480" cy="329184"/>
          </a:xfrm>
          <a:prstGeom prst="rect">
            <a:avLst/>
          </a:prstGeom>
          <a:solidFill>
            <a:srgbClr val="FFD6D6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435608"/>
            <a:ext cx="19202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 SR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766560" y="1435608"/>
            <a:ext cx="19202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41.0 % ±21.1 % ↑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00600" y="1819656"/>
            <a:ext cx="3840480" cy="329184"/>
          </a:xfrm>
          <a:prstGeom prst="rect">
            <a:avLst/>
          </a:prstGeom>
          <a:solidFill>
            <a:srgbClr val="FFD6D6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819656"/>
            <a:ext cx="19202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Animé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766560" y="1819656"/>
            <a:ext cx="19202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80.0 % ±25.3 % ↑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00600" y="2203704"/>
            <a:ext cx="3840480" cy="329184"/>
          </a:xfrm>
          <a:prstGeom prst="rect">
            <a:avLst/>
          </a:prstGeom>
          <a:solidFill>
            <a:srgbClr val="FFD6D6"/>
          </a:solidFill>
          <a:ln w="6350">
            <a:solidFill>
              <a:srgbClr val="E0DD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2203704"/>
            <a:ext cx="19202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Visuels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766560" y="2203704"/>
            <a:ext cx="19202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74.0 % ±20.0 %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2852928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63440" y="2852928"/>
            <a:ext cx="82296" cy="60350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29077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 SR : bruit dilutif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00600" y="312724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std=0.211 → instabilité élevée. Seule n_prior_noms a un drop &gt;0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permutation importance. Toutes les autres features = bruit.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la baseline 1-feature bat le ML 30-features.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663440" y="3520440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63440" y="3520440"/>
            <a:ext cx="82296" cy="60350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00600" y="357530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Animé n=104 : monopole Pixar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00600" y="37947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déséquilibré côté variance (n trop petit).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overfit sur les exceptions rares.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"film le plus nominé" imbattable à 91%.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663440" y="4187952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4187952"/>
            <a:ext cx="82296" cy="60350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0600" y="424281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générale (Session 02 §5)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800600" y="44622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déterministe forte ou n &lt; 120 → le ML ne peut pas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la baseline. On conserve la baseline sur ces 3 catégories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que de dégrader les prédictions.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 :  Actor SR ≠ Actress SR  —  la règle s'inverse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(Session 05 §2)  ·  Coefficients LR L2 (Session 05 §3)  ·  Permutation Importance (Session 05 §5)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416052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155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Acteur Second Rôle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40817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"La règle du vétéran"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440" y="1755648"/>
            <a:ext cx="1965960" cy="438912"/>
          </a:xfrm>
          <a:prstGeom prst="rect">
            <a:avLst/>
          </a:prstGeom>
          <a:solidFill>
            <a:srgbClr val="FFD6D6"/>
          </a:solidFill>
          <a:ln w="19050">
            <a:solidFill>
              <a:srgbClr val="C11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7556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n_prior_noms ≥ 2 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64792" y="2194560"/>
            <a:ext cx="0" cy="36576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07208" y="2194560"/>
            <a:ext cx="0" cy="36576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2860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0" y="22860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" y="2578608"/>
            <a:ext cx="1325880" cy="384048"/>
          </a:xfrm>
          <a:prstGeom prst="rect">
            <a:avLst/>
          </a:prstGeom>
          <a:solidFill>
            <a:srgbClr val="FFD6D6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786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(vétéran 🏆)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2578608"/>
            <a:ext cx="1325880" cy="384048"/>
          </a:xfrm>
          <a:prstGeom prst="rect">
            <a:avLst/>
          </a:prstGeom>
          <a:solidFill>
            <a:srgbClr val="F0EEE9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5786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non-winner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15468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LR L2 standardisé — n_prior_noms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429000"/>
            <a:ext cx="3886200" cy="384048"/>
          </a:xfrm>
          <a:prstGeom prst="rect">
            <a:avLst/>
          </a:prstGeom>
          <a:solidFill>
            <a:srgbClr val="FFD6D6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29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 SR   →   coeff = +0.82   (signal positif fort)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38587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Plus de nominations passées = plus de chances de gagner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024128"/>
            <a:ext cx="41148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1155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Actrice Second Rôle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00600" y="140817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"La règle de la révélation"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1755648"/>
            <a:ext cx="1965960" cy="438912"/>
          </a:xfrm>
          <a:prstGeom prst="rect">
            <a:avLst/>
          </a:prstGeom>
          <a:solidFill>
            <a:srgbClr val="D8F3DC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17556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is_first_nomination 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73368" y="2194560"/>
            <a:ext cx="0" cy="36576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24928" y="2194560"/>
            <a:ext cx="0" cy="36576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286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360920" y="22860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230368" y="2578608"/>
            <a:ext cx="132588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25786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(révélation ✨)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32320" y="2578608"/>
            <a:ext cx="1325880" cy="384048"/>
          </a:xfrm>
          <a:prstGeom prst="rect">
            <a:avLst/>
          </a:prstGeom>
          <a:solidFill>
            <a:srgbClr val="F0EEE9"/>
          </a:solidFill>
          <a:ln w="12700">
            <a:solidFill>
              <a:srgbClr val="E0DD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25786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non-winner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315468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LR L2 standardisé — n_prior_noms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429000"/>
            <a:ext cx="388620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429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Actrice SR   →   coeff = −0.54   (signal négatif !)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00600" y="38587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Première nomination = facteur de victoire ("effet révélation")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206240"/>
            <a:ext cx="8412480" cy="658368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22452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FINDING SOCIOLOGIQUE : la même feature (n_prior_noms) a un signe opposé selon le genre.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Vétéran gagne chez l'Acteur SR  ·  Révélation gagne chez l'Actrice SR  —  preuve par 3 outils d'interprétabilité du cours (Session 05 §2-3-5)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Waterfall  —  Anatomy of a Fall (Scénario 2024)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 (Session 06 §3-4)  ·  Propriété d'efficacité (§2.3)  ·  Art. 22 RGPD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5303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SHAP — LightGBM · Scénario Original 2024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remplacer par shap.plots.waterfall() du Bloc 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E[f(x)] = base value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48840" y="1719072"/>
            <a:ext cx="2542946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7506" y="1755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20.6%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0939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film_n_total_noms = 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91786" y="2057400"/>
            <a:ext cx="2221992" cy="2926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50354" y="20939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+18.0%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4323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"courtroom drama"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13778" y="2395728"/>
            <a:ext cx="1728216" cy="2926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78570" y="243230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+14.0%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7706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is_late_release = True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641994" y="2734056"/>
            <a:ext cx="1110996" cy="2926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9566" y="27706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+9.0%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original_language = "fr"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12326" y="3072384"/>
            <a:ext cx="740664" cy="292608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9566" y="3108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−6.0%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4472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n_prior_noms = 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518550" y="3410712"/>
            <a:ext cx="493776" cy="292608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48902" y="34472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−4.0%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767328"/>
            <a:ext cx="5120640" cy="347472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673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P(winner) finale ≈ 57.6%   |   base value 20.6% → +3 features → −2 features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06440" y="1024128"/>
            <a:ext cx="2971800" cy="1417320"/>
          </a:xfrm>
          <a:prstGeom prst="rect">
            <a:avLst/>
          </a:prstGeom>
          <a:solidFill>
            <a:srgbClr val="FFF8E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11155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Anatomy of a Fall (2024)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0" y="143560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Original 2024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français · Palme d'Or Cannes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drama · Courtroom thriller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 Händler (directrice) : 1ère nom.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06440" y="2542032"/>
            <a:ext cx="2971800" cy="2231136"/>
          </a:xfrm>
          <a:prstGeom prst="rect">
            <a:avLst/>
          </a:prstGeom>
          <a:solidFill>
            <a:srgbClr val="FFD6D6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651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RGPD Art. 22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297180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décision automatisée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doit être explicable à 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concernée.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SHAP TreeExplainer coche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case : chaque prédiction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décomposée en contributions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SHAP = f(x) − E[f(x)]  ✅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Fiabilité business  —  Calibration des probabilités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acteur prédit à 70% est nominé 70% du temps  →  le client signe avec un risque connu"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5029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de calibration — Scénario Original (LightGBM)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444752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3484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Courbe illustrative — à remplacer par sklearn.calibration.CalibrationDisplay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577840" y="1024128"/>
            <a:ext cx="3200400" cy="205740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15000" y="1115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Valeur pour le client luxe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15000" y="1444752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calibré signifie 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 = 70% → l'actrice 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nominée 70% du temps.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maison de luxe signe 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avec un niveau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connu et quantifié.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77840" y="3172968"/>
            <a:ext cx="3200400" cy="1600200"/>
          </a:xfrm>
          <a:prstGeom prst="rect">
            <a:avLst/>
          </a:prstGeom>
          <a:solidFill>
            <a:srgbClr val="FFF8E7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15000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Seuils de décision business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15000" y="359359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 &gt; 60 %  → Contrat signé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 40–60 % → Option courte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 &lt; 40 %  → Pas d'engagement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assumées  —  ce que le modèle ne peut pas faire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87552"/>
            <a:ext cx="109728" cy="1783080"/>
          </a:xfrm>
          <a:prstGeom prst="rect">
            <a:avLst/>
          </a:prstGeom>
          <a:solidFill>
            <a:srgbClr val="C97D3E"/>
          </a:solidFill>
          <a:ln w="12700">
            <a:solidFill>
              <a:srgbClr val="C97D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61288" y="109728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~80% sans précurseurs SAG/DGA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61288" y="1463040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données SAG, DGA, Critics Choice (disponibles 3–4 semaines avant les Oscars seulement), on plafonne à ~80%. Ces prix sont les meilleurs prédicteurs mais hors de notre horizon 6 mois.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8755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87552"/>
            <a:ext cx="109728" cy="178308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97280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❄️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550408" y="109728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: acteurs sans historique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50408" y="1463040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Anya Taylor-Joy en 2020 — première nomination, aucun n_prior_noms. Le modèle rate les véritables révélations. is_first_nomination atténue mais n'élimine pas le biais.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95351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53512"/>
            <a:ext cx="109728" cy="178308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63240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✊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161288" y="306324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2016 — #OscarsSoWhite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61288" y="3429000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L'Académie a refondu sa composition après le mouvement. Les données 2000–2015 peuvent introduire un biais si ce changement structurel n'est pas modélisé explicitement.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95351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953512"/>
            <a:ext cx="109728" cy="1783080"/>
          </a:xfrm>
          <a:prstGeom prst="rect">
            <a:avLst/>
          </a:prstGeom>
          <a:solidFill>
            <a:srgbClr val="4A4A6A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063240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🎲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550408" y="306324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Snubs imprévisibles (~10%)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550408" y="3429000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Certaines années, la logique s'inverse complètement. Ces outliers sont par nature non prédictibles — c'est la magie des Oscars. On assume cette limite.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21208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règles métier — Bias-Variance tradeoff (Session 02 §5)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530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24128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Signal riche + n &gt; 100  →  ML gagne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2618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Scénario, Film, Actrice SR — plusieurs features portent le signal, n suffisant pour généraliser. ML déployé.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530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24128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Signal partiel  →  ML marginal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21762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Actrice, Acteur, Réalisateur — ML améliore légèrement la baseline. Gain réel mais non décisif. ML déployé avec monitoring.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97480"/>
            <a:ext cx="530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Règle déterministe ou n &lt; 120  →  Baseline gagne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30906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 SR, Animé, VFX — monopole ou vétéran si puissant que 1 feature &gt; 30 features ML. Baseline conservée.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767328"/>
            <a:ext cx="836676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858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38587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actif sur 6 catégories  ·  Baseline conservée sur 3  (Acteur SR, Film Animé, VFX)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160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41605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1$ investi → 30–50$ valeur média  ·  Modèle explicable  ·  Prêt pour la pré-saison des Oscars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663440"/>
            <a:ext cx="8366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catégories prédites  ·  ML interprétable (SHAP)  ·  Horizon 6 mois avant les nominations  ·  Anna · Keira · Robin · Jonathan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Oscar ML Predictions — Présentation Académique</dc:title>
  <dc:subject>PptxGenJS Presentation</dc:subject>
  <dc:creator>PptxGenJS</dc:creator>
  <cp:lastModifiedBy>PptxGenJS</cp:lastModifiedBy>
  <cp:revision>1</cp:revision>
  <dcterms:created xsi:type="dcterms:W3CDTF">2026-05-24T14:42:25Z</dcterms:created>
  <dcterms:modified xsi:type="dcterms:W3CDTF">2026-05-24T14:42:25Z</dcterms:modified>
</cp:coreProperties>
</file>